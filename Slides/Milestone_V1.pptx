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Play"/>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9ixGPZi7XaVAsqDtcEHDer191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B17028-8F46-47EA-B395-105A4A2347D1}">
  <a:tblStyle styleId="{D6B17028-8F46-47EA-B395-105A4A2347D1}" styleName="Table_0">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70C8FCEA-B8C7-49A6-9F48-0E0ACADF6EA5}" styleName="Table_1">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bold.fntdata"/><Relationship Id="rId14" Type="http://schemas.openxmlformats.org/officeDocument/2006/relationships/font" Target="fonts/Play-regular.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3985d2df1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a3985d2df1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a3985d2df1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p:nvPr>
            <p:ph idx="2" type="pic"/>
          </p:nvPr>
        </p:nvSpPr>
        <p:spPr>
          <a:xfrm>
            <a:off x="5183188" y="987425"/>
            <a:ext cx="6172200" cy="4873625"/>
          </a:xfrm>
          <a:prstGeom prst="rect">
            <a:avLst/>
          </a:prstGeom>
          <a:noFill/>
          <a:ln>
            <a:noFill/>
          </a:ln>
        </p:spPr>
      </p:sp>
      <p:sp>
        <p:nvSpPr>
          <p:cNvPr id="68" name="Google Shape;68;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2"/>
                </a:solidFill>
                <a:latin typeface="Times New Roman"/>
                <a:ea typeface="Times New Roman"/>
                <a:cs typeface="Times New Roman"/>
                <a:sym typeface="Times New Roman"/>
              </a:rPr>
              <a:t>  Contribution Breakdown      </a:t>
            </a:r>
            <a:endParaRPr/>
          </a:p>
        </p:txBody>
      </p:sp>
      <p:sp>
        <p:nvSpPr>
          <p:cNvPr id="90" name="Google Shape;90;p1"/>
          <p:cNvSpPr/>
          <p:nvPr/>
        </p:nvSpPr>
        <p:spPr>
          <a:xfrm>
            <a:off x="-1" y="-1"/>
            <a:ext cx="2295526" cy="548640"/>
          </a:xfrm>
          <a:prstGeom prst="homePlate">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Data Pipeline</a:t>
            </a:r>
            <a:endParaRPr/>
          </a:p>
        </p:txBody>
      </p:sp>
      <p:sp>
        <p:nvSpPr>
          <p:cNvPr id="91" name="Google Shape;91;p1"/>
          <p:cNvSpPr/>
          <p:nvPr/>
        </p:nvSpPr>
        <p:spPr>
          <a:xfrm>
            <a:off x="1976436" y="0"/>
            <a:ext cx="3381376" cy="548639"/>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2"/>
                </a:solidFill>
                <a:latin typeface="Times New Roman"/>
                <a:ea typeface="Times New Roman"/>
                <a:cs typeface="Times New Roman"/>
                <a:sym typeface="Times New Roman"/>
              </a:rPr>
              <a:t>Baseline Model Running</a:t>
            </a:r>
            <a:endParaRPr/>
          </a:p>
        </p:txBody>
      </p:sp>
      <p:sp>
        <p:nvSpPr>
          <p:cNvPr id="92" name="Google Shape;92;p1"/>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2"/>
                </a:solidFill>
                <a:latin typeface="Times New Roman"/>
                <a:ea typeface="Times New Roman"/>
                <a:cs typeface="Times New Roman"/>
                <a:sym typeface="Times New Roman"/>
              </a:rPr>
              <a:t>Preliminary Results</a:t>
            </a:r>
            <a:endParaRPr/>
          </a:p>
        </p:txBody>
      </p:sp>
      <p:sp>
        <p:nvSpPr>
          <p:cNvPr id="93" name="Google Shape;93;p1"/>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2"/>
                </a:solidFill>
                <a:latin typeface="Times New Roman"/>
                <a:ea typeface="Times New Roman"/>
                <a:cs typeface="Times New Roman"/>
                <a:sym typeface="Times New Roman"/>
              </a:rPr>
              <a:t>Next Steps</a:t>
            </a:r>
            <a:endParaRPr/>
          </a:p>
        </p:txBody>
      </p:sp>
      <p:graphicFrame>
        <p:nvGraphicFramePr>
          <p:cNvPr id="94" name="Google Shape;94;p1"/>
          <p:cNvGraphicFramePr/>
          <p:nvPr/>
        </p:nvGraphicFramePr>
        <p:xfrm>
          <a:off x="152400" y="1287302"/>
          <a:ext cx="3000000" cy="3000000"/>
        </p:xfrm>
        <a:graphic>
          <a:graphicData uri="http://schemas.openxmlformats.org/drawingml/2006/table">
            <a:tbl>
              <a:tblPr bandRow="1" firstRow="1">
                <a:noFill/>
                <a:tableStyleId>{D6B17028-8F46-47EA-B395-105A4A2347D1}</a:tableStyleId>
              </a:tblPr>
              <a:tblGrid>
                <a:gridCol w="1359650"/>
                <a:gridCol w="1427625"/>
                <a:gridCol w="937000"/>
                <a:gridCol w="1495425"/>
                <a:gridCol w="1889325"/>
                <a:gridCol w="1282500"/>
                <a:gridCol w="1247775"/>
                <a:gridCol w="2247900"/>
              </a:tblGrid>
              <a:tr h="492300">
                <a:tc gridSpan="8">
                  <a:txBody>
                    <a:bodyPr/>
                    <a:lstStyle/>
                    <a:p>
                      <a:pPr indent="0" lvl="0" marL="0" marR="0" rtl="0" algn="l">
                        <a:lnSpc>
                          <a:spcPct val="100000"/>
                        </a:lnSpc>
                        <a:spcBef>
                          <a:spcPts val="0"/>
                        </a:spcBef>
                        <a:spcAft>
                          <a:spcPts val="0"/>
                        </a:spcAft>
                        <a:buClr>
                          <a:schemeClr val="dk1"/>
                        </a:buClr>
                        <a:buSzPts val="1700"/>
                        <a:buFont typeface="Times New Roman"/>
                        <a:buNone/>
                      </a:pPr>
                      <a:r>
                        <a:rPr b="1" lang="en-US" sz="1700" u="none" cap="none" strike="noStrike">
                          <a:latin typeface="Times New Roman"/>
                          <a:ea typeface="Times New Roman"/>
                          <a:cs typeface="Times New Roman"/>
                          <a:sym typeface="Times New Roman"/>
                        </a:rPr>
                        <a:t>Table </a:t>
                      </a:r>
                      <a:r>
                        <a:rPr lang="en-US" sz="1700">
                          <a:latin typeface="Times New Roman"/>
                          <a:ea typeface="Times New Roman"/>
                          <a:cs typeface="Times New Roman"/>
                          <a:sym typeface="Times New Roman"/>
                        </a:rPr>
                        <a:t>1</a:t>
                      </a:r>
                      <a:r>
                        <a:rPr b="1" lang="en-US" sz="1700" u="none" cap="none" strike="noStrike">
                          <a:latin typeface="Times New Roman"/>
                          <a:ea typeface="Times New Roman"/>
                          <a:cs typeface="Times New Roman"/>
                          <a:sym typeface="Times New Roman"/>
                        </a:rPr>
                        <a:t>. </a:t>
                      </a:r>
                      <a:r>
                        <a:rPr b="0" lang="en-US" sz="1700" u="none" cap="none" strike="noStrike">
                          <a:latin typeface="Times New Roman"/>
                          <a:ea typeface="Times New Roman"/>
                          <a:cs typeface="Times New Roman"/>
                          <a:sym typeface="Times New Roman"/>
                        </a:rPr>
                        <a:t>Key NASA satellite products and ERA5 (Fifth generation ECMWF) atmospheric reanalysis datasets used in this study.</a:t>
                      </a:r>
                      <a:endParaRPr b="0" sz="17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r>
              <a:tr h="576775">
                <a:tc>
                  <a:txBody>
                    <a:bodyPr/>
                    <a:lstStyle/>
                    <a:p>
                      <a:pPr indent="0" lvl="0" marL="0" marR="0" rtl="0" algn="ctr">
                        <a:spcBef>
                          <a:spcPts val="0"/>
                        </a:spcBef>
                        <a:spcAft>
                          <a:spcPts val="0"/>
                        </a:spcAft>
                        <a:buNone/>
                      </a:pPr>
                      <a:r>
                        <a:t/>
                      </a:r>
                      <a:endParaRPr b="1" sz="16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Product</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Source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Variable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Temporal Coverage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Temporal Resolution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Spatial Resolution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Reference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3860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Fire Activity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MCD64A1</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NASA</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Burned Area</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11/2000-present</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Monthly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500 m</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Giglio et al., 2018</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4275">
                <a:tc rowSpan="3">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Vegetation Productivity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MOD13A2</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NASA</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EVI</a:t>
                      </a:r>
                      <a:r>
                        <a:rPr baseline="30000" lang="en-US" sz="1600" u="none" cap="none" strike="noStrike">
                          <a:latin typeface="Times New Roman"/>
                          <a:ea typeface="Times New Roman"/>
                          <a:cs typeface="Times New Roman"/>
                          <a:sym typeface="Times New Roman"/>
                        </a:rPr>
                        <a:t>1</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02/2000-present</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16-Day</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1000 m</a:t>
                      </a:r>
                      <a:endParaRPr/>
                    </a:p>
                  </a:txBody>
                  <a:tcPr marT="45725" marB="45725" marR="91450" marL="91450" anchor="ctr">
                    <a:lnT cap="flat" cmpd="sng" w="12700">
                      <a:solidFill>
                        <a:schemeClr val="dk1"/>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Didan et al., 2015</a:t>
                      </a:r>
                      <a:endParaRPr/>
                    </a:p>
                  </a:txBody>
                  <a:tcPr marT="45725" marB="45725" marR="91450" marL="91450" anchor="ctr">
                    <a:lnT cap="flat" cmpd="sng" w="12700">
                      <a:solidFill>
                        <a:schemeClr val="dk1"/>
                      </a:solidFill>
                      <a:prstDash val="solid"/>
                      <a:round/>
                      <a:headEnd len="sm" w="sm" type="none"/>
                      <a:tailEnd len="sm" w="sm" type="none"/>
                    </a:lnT>
                  </a:tcPr>
                </a:tc>
              </a:tr>
              <a:tr h="386025">
                <a:tc vMerge="1"/>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MOD13A2</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NASA</a:t>
                      </a:r>
                      <a:endParaRPr/>
                    </a:p>
                  </a:txBody>
                  <a:tcPr marT="45725" marB="45725" marR="91450" marL="91450" anchor="ct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NDVI</a:t>
                      </a:r>
                      <a:r>
                        <a:rPr baseline="30000" lang="en-US" sz="1600" u="none" cap="none" strike="noStrike">
                          <a:latin typeface="Times New Roman"/>
                          <a:ea typeface="Times New Roman"/>
                          <a:cs typeface="Times New Roman"/>
                          <a:sym typeface="Times New Roman"/>
                        </a:rPr>
                        <a:t>2</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02/2000-present</a:t>
                      </a:r>
                      <a:endParaRPr/>
                    </a:p>
                  </a:txBody>
                  <a:tcPr marT="45725" marB="45725" marR="91450" marL="91450" anchor="ct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16-Day</a:t>
                      </a:r>
                      <a:endParaRPr/>
                    </a:p>
                  </a:txBody>
                  <a:tcPr marT="45725" marB="45725" marR="91450" marL="91450" anchor="ct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1000 m</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Didan et al., 2015</a:t>
                      </a:r>
                      <a:endParaRPr/>
                    </a:p>
                  </a:txBody>
                  <a:tcPr marT="45725" marB="45725" marR="91450" marL="91450" anchor="ctr"/>
                </a:tc>
              </a:tr>
              <a:tr h="386025">
                <a:tc vMerge="1"/>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MOD15A2H</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NASA</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LAI</a:t>
                      </a:r>
                      <a:r>
                        <a:rPr baseline="30000" lang="en-US" sz="1600" u="none" cap="none" strike="noStrike">
                          <a:latin typeface="Times New Roman"/>
                          <a:ea typeface="Times New Roman"/>
                          <a:cs typeface="Times New Roman"/>
                          <a:sym typeface="Times New Roman"/>
                        </a:rPr>
                        <a:t>3</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02/2000-present</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8-Day</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500 m</a:t>
                      </a:r>
                      <a:endParaRPr/>
                    </a:p>
                  </a:txBody>
                  <a:tcPr marT="45725" marB="45725" marR="91450" marL="91450" anchor="ctr">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Myneni et al., 2021</a:t>
                      </a:r>
                      <a:endParaRPr/>
                    </a:p>
                  </a:txBody>
                  <a:tcPr marT="45725" marB="45725" marR="91450" marL="91450" anchor="ctr">
                    <a:lnB cap="flat" cmpd="sng" w="12700">
                      <a:solidFill>
                        <a:schemeClr val="dk1"/>
                      </a:solidFill>
                      <a:prstDash val="solid"/>
                      <a:round/>
                      <a:headEnd len="sm" w="sm" type="none"/>
                      <a:tailEnd len="sm" w="sm" type="none"/>
                    </a:lnB>
                  </a:tcPr>
                </a:tc>
              </a:tr>
              <a:tr h="333925">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Fire Weather</a:t>
                      </a:r>
                      <a:endParaRPr sz="16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ERA5 Land</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ECMWF</a:t>
                      </a:r>
                      <a:endParaRPr sz="16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Precipitation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01/1950-present</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Monthly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0.1°</a:t>
                      </a:r>
                      <a:endParaRPr sz="16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 1100 m)</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5">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Hersbach et al., 2020</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576775">
                <a:tc vMerge="1"/>
                <a:tc vMerge="1"/>
                <a:tc vMerge="1"/>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Surface Temperature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333925">
                <a:tc vMerge="1"/>
                <a:tc vMerge="1"/>
                <a:tc vMerge="1"/>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Soil Moisture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333925">
                <a:tc vMerge="1"/>
                <a:tc vMerge="1"/>
                <a:tc vMerge="1"/>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Wind Speed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333925">
                <a:tc vMerge="1"/>
                <a:tc vMerge="1"/>
                <a:tc vMerge="1"/>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VPD</a:t>
                      </a:r>
                      <a:r>
                        <a:rPr baseline="30000" lang="en-US" sz="1600" u="none" cap="none" strike="noStrike">
                          <a:latin typeface="Times New Roman"/>
                          <a:ea typeface="Times New Roman"/>
                          <a:cs typeface="Times New Roman"/>
                          <a:sym typeface="Times New Roman"/>
                        </a:rPr>
                        <a:t>4</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576775">
                <a:tc gridSpan="8">
                  <a:txBody>
                    <a:bodyPr/>
                    <a:lstStyle/>
                    <a:p>
                      <a:pPr indent="0" lvl="0" marL="0" marR="0" rtl="0" algn="l">
                        <a:lnSpc>
                          <a:spcPct val="100000"/>
                        </a:lnSpc>
                        <a:spcBef>
                          <a:spcPts val="0"/>
                        </a:spcBef>
                        <a:spcAft>
                          <a:spcPts val="0"/>
                        </a:spcAft>
                        <a:buClr>
                          <a:schemeClr val="dk1"/>
                        </a:buClr>
                        <a:buSzPts val="1600"/>
                        <a:buFont typeface="Times New Roman"/>
                        <a:buNone/>
                      </a:pPr>
                      <a:r>
                        <a:rPr i="0" lang="en-US" sz="1600" u="none" cap="none" strike="noStrike">
                          <a:latin typeface="Times New Roman"/>
                          <a:ea typeface="Times New Roman"/>
                          <a:cs typeface="Times New Roman"/>
                          <a:sym typeface="Times New Roman"/>
                        </a:rPr>
                        <a:t>EVI</a:t>
                      </a:r>
                      <a:r>
                        <a:rPr baseline="30000" i="0" lang="en-US" sz="1600" u="none" cap="none" strike="noStrike">
                          <a:latin typeface="Times New Roman"/>
                          <a:ea typeface="Times New Roman"/>
                          <a:cs typeface="Times New Roman"/>
                          <a:sym typeface="Times New Roman"/>
                        </a:rPr>
                        <a:t>1 </a:t>
                      </a:r>
                      <a:r>
                        <a:rPr i="0" lang="en-US" sz="1600" u="none" cap="none" strike="noStrike">
                          <a:latin typeface="Times New Roman"/>
                          <a:ea typeface="Times New Roman"/>
                          <a:cs typeface="Times New Roman"/>
                          <a:sym typeface="Times New Roman"/>
                        </a:rPr>
                        <a:t>= Enhanced Vegetation Index;                                            NDVI</a:t>
                      </a:r>
                      <a:r>
                        <a:rPr baseline="30000" i="0" lang="en-US" sz="1600" u="none" cap="none" strike="noStrike">
                          <a:latin typeface="Times New Roman"/>
                          <a:ea typeface="Times New Roman"/>
                          <a:cs typeface="Times New Roman"/>
                          <a:sym typeface="Times New Roman"/>
                        </a:rPr>
                        <a:t>2</a:t>
                      </a:r>
                      <a:r>
                        <a:rPr i="0" lang="en-US" sz="1600" u="none" cap="none" strike="noStrike">
                          <a:latin typeface="Times New Roman"/>
                          <a:ea typeface="Times New Roman"/>
                          <a:cs typeface="Times New Roman"/>
                          <a:sym typeface="Times New Roman"/>
                        </a:rPr>
                        <a:t> = Normalized Difference Vegetation Index; </a:t>
                      </a:r>
                      <a:endParaRPr/>
                    </a:p>
                    <a:p>
                      <a:pPr indent="0" lvl="0" marL="0" marR="0" rtl="0" algn="l">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LAI</a:t>
                      </a:r>
                      <a:r>
                        <a:rPr baseline="30000" lang="en-US" sz="1600" u="none" cap="none" strike="noStrike">
                          <a:latin typeface="Times New Roman"/>
                          <a:ea typeface="Times New Roman"/>
                          <a:cs typeface="Times New Roman"/>
                          <a:sym typeface="Times New Roman"/>
                        </a:rPr>
                        <a:t>3</a:t>
                      </a:r>
                      <a:r>
                        <a:rPr i="0" lang="en-US" sz="1600" u="none" cap="none" strike="noStrike">
                          <a:latin typeface="Times New Roman"/>
                          <a:ea typeface="Times New Roman"/>
                          <a:cs typeface="Times New Roman"/>
                          <a:sym typeface="Times New Roman"/>
                        </a:rPr>
                        <a:t> = Leaf Area Index;                                                              </a:t>
                      </a:r>
                      <a:r>
                        <a:rPr lang="en-US" sz="1600" u="none" cap="none" strike="noStrike">
                          <a:latin typeface="Times New Roman"/>
                          <a:ea typeface="Times New Roman"/>
                          <a:cs typeface="Times New Roman"/>
                          <a:sym typeface="Times New Roman"/>
                        </a:rPr>
                        <a:t>VPD</a:t>
                      </a:r>
                      <a:r>
                        <a:rPr baseline="30000" lang="en-US" sz="1600" u="none" cap="none" strike="noStrike">
                          <a:latin typeface="Times New Roman"/>
                          <a:ea typeface="Times New Roman"/>
                          <a:cs typeface="Times New Roman"/>
                          <a:sym typeface="Times New Roman"/>
                        </a:rPr>
                        <a:t>4 </a:t>
                      </a:r>
                      <a:r>
                        <a:rPr i="0" lang="en-US" sz="1600" u="none" cap="none" strike="noStrike">
                          <a:latin typeface="Times New Roman"/>
                          <a:ea typeface="Times New Roman"/>
                          <a:cs typeface="Times New Roman"/>
                          <a:sym typeface="Times New Roman"/>
                        </a:rPr>
                        <a:t>= Vapor Pressure Deficit</a:t>
                      </a:r>
                      <a:endParaRPr baseline="30000" i="0" sz="1600" u="none" cap="none" strike="noStrike">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c hMerge="1"/>
                <a:tc hMerge="1"/>
                <a:tc hMerge="1"/>
                <a:tc hMerge="1"/>
              </a:tr>
            </a:tbl>
          </a:graphicData>
        </a:graphic>
      </p:graphicFrame>
      <p:sp>
        <p:nvSpPr>
          <p:cNvPr id="95" name="Google Shape;95;p1"/>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741E1E"/>
                </a:solidFill>
                <a:latin typeface="Times New Roman"/>
                <a:ea typeface="Times New Roman"/>
                <a:cs typeface="Times New Roman"/>
                <a:sym typeface="Times New Roman"/>
              </a:rPr>
              <a:t>Datasets</a:t>
            </a:r>
            <a:endParaRPr/>
          </a:p>
        </p:txBody>
      </p:sp>
      <p:cxnSp>
        <p:nvCxnSpPr>
          <p:cNvPr id="96" name="Google Shape;96;p1"/>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sp>
        <p:nvSpPr>
          <p:cNvPr id="97" name="Google Shape;97;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04" name="Google Shape;104;p2"/>
          <p:cNvSpPr/>
          <p:nvPr/>
        </p:nvSpPr>
        <p:spPr>
          <a:xfrm>
            <a:off x="-1" y="-1"/>
            <a:ext cx="2295526" cy="548640"/>
          </a:xfrm>
          <a:prstGeom prst="homePlate">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05" name="Google Shape;105;p2"/>
          <p:cNvSpPr/>
          <p:nvPr/>
        </p:nvSpPr>
        <p:spPr>
          <a:xfrm>
            <a:off x="1976436" y="0"/>
            <a:ext cx="3381376" cy="548639"/>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06" name="Google Shape;106;p2"/>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07" name="Google Shape;107;p2"/>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108" name="Google Shape;108;p2"/>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Post-Processing Workflow</a:t>
            </a:r>
            <a:endParaRPr b="1" sz="1800">
              <a:solidFill>
                <a:srgbClr val="741E1E"/>
              </a:solidFill>
              <a:latin typeface="Times New Roman"/>
              <a:ea typeface="Times New Roman"/>
              <a:cs typeface="Times New Roman"/>
              <a:sym typeface="Times New Roman"/>
            </a:endParaRPr>
          </a:p>
        </p:txBody>
      </p:sp>
      <p:cxnSp>
        <p:nvCxnSpPr>
          <p:cNvPr id="109" name="Google Shape;109;p2"/>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sp>
        <p:nvSpPr>
          <p:cNvPr id="110" name="Google Shape;110;p2"/>
          <p:cNvSpPr/>
          <p:nvPr/>
        </p:nvSpPr>
        <p:spPr>
          <a:xfrm>
            <a:off x="1381124" y="3264478"/>
            <a:ext cx="1590675" cy="723900"/>
          </a:xfrm>
          <a:prstGeom prst="rect">
            <a:avLst/>
          </a:prstGeom>
          <a:solidFill>
            <a:srgbClr val="F2A9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NASA Products</a:t>
            </a:r>
            <a:endParaRPr/>
          </a:p>
        </p:txBody>
      </p:sp>
      <p:sp>
        <p:nvSpPr>
          <p:cNvPr id="111" name="Google Shape;111;p2"/>
          <p:cNvSpPr/>
          <p:nvPr/>
        </p:nvSpPr>
        <p:spPr>
          <a:xfrm>
            <a:off x="2062160" y="1519771"/>
            <a:ext cx="238126" cy="696318"/>
          </a:xfrm>
          <a:prstGeom prst="down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2"/>
          <p:cNvSpPr txBox="1"/>
          <p:nvPr/>
        </p:nvSpPr>
        <p:spPr>
          <a:xfrm>
            <a:off x="2214561" y="1631206"/>
            <a:ext cx="29051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A5A5A5"/>
                </a:solidFill>
                <a:latin typeface="Times New Roman"/>
                <a:ea typeface="Times New Roman"/>
                <a:cs typeface="Times New Roman"/>
                <a:sym typeface="Times New Roman"/>
              </a:rPr>
              <a:t>Google Earth Engine (GEE</a:t>
            </a:r>
            <a:r>
              <a:rPr i="1" lang="en-US" sz="1800">
                <a:solidFill>
                  <a:srgbClr val="A5A5A5"/>
                </a:solidFill>
                <a:latin typeface="Times New Roman"/>
                <a:ea typeface="Times New Roman"/>
                <a:cs typeface="Times New Roman"/>
                <a:sym typeface="Times New Roman"/>
              </a:rPr>
              <a:t>)</a:t>
            </a:r>
            <a:endParaRPr/>
          </a:p>
        </p:txBody>
      </p:sp>
      <p:sp>
        <p:nvSpPr>
          <p:cNvPr id="113" name="Google Shape;113;p2"/>
          <p:cNvSpPr/>
          <p:nvPr/>
        </p:nvSpPr>
        <p:spPr>
          <a:xfrm>
            <a:off x="1381124" y="4361798"/>
            <a:ext cx="1590675" cy="723900"/>
          </a:xfrm>
          <a:prstGeom prst="rect">
            <a:avLst/>
          </a:prstGeom>
          <a:solidFill>
            <a:srgbClr val="AA59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ERA5 Datasets</a:t>
            </a:r>
            <a:endParaRPr/>
          </a:p>
        </p:txBody>
      </p:sp>
      <p:sp>
        <p:nvSpPr>
          <p:cNvPr id="114" name="Google Shape;114;p2"/>
          <p:cNvSpPr txBox="1"/>
          <p:nvPr/>
        </p:nvSpPr>
        <p:spPr>
          <a:xfrm>
            <a:off x="2331239" y="2688346"/>
            <a:ext cx="14668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A5A5A5"/>
                </a:solidFill>
                <a:latin typeface="Times New Roman"/>
                <a:ea typeface="Times New Roman"/>
                <a:cs typeface="Times New Roman"/>
                <a:sym typeface="Times New Roman"/>
              </a:rPr>
              <a:t>ArcGIS Pro</a:t>
            </a:r>
            <a:endParaRPr b="1" sz="1800">
              <a:solidFill>
                <a:schemeClr val="dk1"/>
              </a:solidFill>
              <a:latin typeface="Arial"/>
              <a:ea typeface="Arial"/>
              <a:cs typeface="Arial"/>
              <a:sym typeface="Arial"/>
            </a:endParaRPr>
          </a:p>
        </p:txBody>
      </p:sp>
      <p:sp>
        <p:nvSpPr>
          <p:cNvPr id="115" name="Google Shape;115;p2"/>
          <p:cNvSpPr txBox="1"/>
          <p:nvPr/>
        </p:nvSpPr>
        <p:spPr>
          <a:xfrm>
            <a:off x="738246" y="1102636"/>
            <a:ext cx="34194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Pre-process, Extract, Download</a:t>
            </a:r>
            <a:endParaRPr/>
          </a:p>
        </p:txBody>
      </p:sp>
      <p:sp>
        <p:nvSpPr>
          <p:cNvPr id="116" name="Google Shape;116;p2"/>
          <p:cNvSpPr/>
          <p:nvPr/>
        </p:nvSpPr>
        <p:spPr>
          <a:xfrm rot="-5400000">
            <a:off x="5397457" y="1537469"/>
            <a:ext cx="1287665" cy="5252920"/>
          </a:xfrm>
          <a:prstGeom prst="downArrow">
            <a:avLst>
              <a:gd fmla="val 35206" name="adj1"/>
              <a:gd fmla="val 50000"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2"/>
          <p:cNvSpPr txBox="1"/>
          <p:nvPr/>
        </p:nvSpPr>
        <p:spPr>
          <a:xfrm>
            <a:off x="1628772" y="2159776"/>
            <a:ext cx="13477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Re-project</a:t>
            </a:r>
            <a:endParaRPr/>
          </a:p>
        </p:txBody>
      </p:sp>
      <p:sp>
        <p:nvSpPr>
          <p:cNvPr id="118" name="Google Shape;118;p2"/>
          <p:cNvSpPr/>
          <p:nvPr/>
        </p:nvSpPr>
        <p:spPr>
          <a:xfrm>
            <a:off x="2057399" y="2535255"/>
            <a:ext cx="238126" cy="696318"/>
          </a:xfrm>
          <a:prstGeom prst="down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2"/>
          <p:cNvSpPr txBox="1"/>
          <p:nvPr/>
        </p:nvSpPr>
        <p:spPr>
          <a:xfrm>
            <a:off x="1578797" y="5940029"/>
            <a:ext cx="11953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Download</a:t>
            </a:r>
            <a:endParaRPr/>
          </a:p>
        </p:txBody>
      </p:sp>
      <p:sp>
        <p:nvSpPr>
          <p:cNvPr id="120" name="Google Shape;120;p2"/>
          <p:cNvSpPr/>
          <p:nvPr/>
        </p:nvSpPr>
        <p:spPr>
          <a:xfrm rot="10800000">
            <a:off x="1976436" y="5164704"/>
            <a:ext cx="238126" cy="696318"/>
          </a:xfrm>
          <a:prstGeom prst="down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 name="Google Shape;121;p2"/>
          <p:cNvSpPr txBox="1"/>
          <p:nvPr/>
        </p:nvSpPr>
        <p:spPr>
          <a:xfrm>
            <a:off x="2176461" y="5270185"/>
            <a:ext cx="9333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A5A5A5"/>
                </a:solidFill>
                <a:latin typeface="Times New Roman"/>
                <a:ea typeface="Times New Roman"/>
                <a:cs typeface="Times New Roman"/>
                <a:sym typeface="Times New Roman"/>
              </a:rPr>
              <a:t>Python</a:t>
            </a:r>
            <a:endParaRPr b="1" sz="1800">
              <a:solidFill>
                <a:schemeClr val="dk1"/>
              </a:solidFill>
              <a:latin typeface="Arial"/>
              <a:ea typeface="Arial"/>
              <a:cs typeface="Arial"/>
              <a:sym typeface="Arial"/>
            </a:endParaRPr>
          </a:p>
        </p:txBody>
      </p:sp>
      <p:sp>
        <p:nvSpPr>
          <p:cNvPr id="122" name="Google Shape;122;p2"/>
          <p:cNvSpPr txBox="1"/>
          <p:nvPr/>
        </p:nvSpPr>
        <p:spPr>
          <a:xfrm>
            <a:off x="3667123" y="3493985"/>
            <a:ext cx="43873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Interpolate, Resample, Grid Alignment</a:t>
            </a:r>
            <a:endParaRPr/>
          </a:p>
        </p:txBody>
      </p:sp>
      <p:sp>
        <p:nvSpPr>
          <p:cNvPr id="123" name="Google Shape;123;p2"/>
          <p:cNvSpPr txBox="1"/>
          <p:nvPr/>
        </p:nvSpPr>
        <p:spPr>
          <a:xfrm>
            <a:off x="3734334" y="4438430"/>
            <a:ext cx="42529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A5A5A5"/>
                </a:solidFill>
                <a:latin typeface="Times New Roman"/>
                <a:ea typeface="Times New Roman"/>
                <a:cs typeface="Times New Roman"/>
                <a:sym typeface="Times New Roman"/>
              </a:rPr>
              <a:t>Python, Climate Data Operators (CDO)</a:t>
            </a:r>
            <a:endParaRPr b="1" sz="1800">
              <a:solidFill>
                <a:schemeClr val="dk1"/>
              </a:solidFill>
              <a:latin typeface="Arial"/>
              <a:ea typeface="Arial"/>
              <a:cs typeface="Arial"/>
              <a:sym typeface="Arial"/>
            </a:endParaRPr>
          </a:p>
        </p:txBody>
      </p:sp>
      <p:sp>
        <p:nvSpPr>
          <p:cNvPr id="124" name="Google Shape;124;p2"/>
          <p:cNvSpPr/>
          <p:nvPr/>
        </p:nvSpPr>
        <p:spPr>
          <a:xfrm>
            <a:off x="2007392" y="4018008"/>
            <a:ext cx="323847" cy="291846"/>
          </a:xfrm>
          <a:prstGeom prst="mathPlus">
            <a:avLst>
              <a:gd fmla="val 9566" name="adj1"/>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2"/>
          <p:cNvSpPr/>
          <p:nvPr/>
        </p:nvSpPr>
        <p:spPr>
          <a:xfrm>
            <a:off x="9172575" y="2698024"/>
            <a:ext cx="2409825" cy="2647099"/>
          </a:xfrm>
          <a:prstGeom prst="flowChartMultidocument">
            <a:avLst/>
          </a:prstGeom>
          <a:solidFill>
            <a:srgbClr val="A5A5A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All datasets to the same resolution and coordinate grid</a:t>
            </a:r>
            <a:r>
              <a:rPr lang="en-US" sz="1800">
                <a:solidFill>
                  <a:schemeClr val="lt1"/>
                </a:solidFill>
                <a:latin typeface="Arial"/>
                <a:ea typeface="Arial"/>
                <a:cs typeface="Arial"/>
                <a:sym typeface="Arial"/>
              </a:rPr>
              <a:t> </a:t>
            </a:r>
            <a:endParaRPr/>
          </a:p>
        </p:txBody>
      </p:sp>
      <p:sp>
        <p:nvSpPr>
          <p:cNvPr id="126" name="Google Shape;12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33" name="Google Shape;133;p3"/>
          <p:cNvSpPr/>
          <p:nvPr/>
        </p:nvSpPr>
        <p:spPr>
          <a:xfrm>
            <a:off x="-1" y="-1"/>
            <a:ext cx="2295526" cy="548640"/>
          </a:xfrm>
          <a:prstGeom prst="homePlate">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34" name="Google Shape;134;p3"/>
          <p:cNvSpPr/>
          <p:nvPr/>
        </p:nvSpPr>
        <p:spPr>
          <a:xfrm>
            <a:off x="1976436" y="0"/>
            <a:ext cx="3381376" cy="548639"/>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35" name="Google Shape;135;p3"/>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36" name="Google Shape;136;p3"/>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graphicFrame>
        <p:nvGraphicFramePr>
          <p:cNvPr id="137" name="Google Shape;137;p3"/>
          <p:cNvGraphicFramePr/>
          <p:nvPr/>
        </p:nvGraphicFramePr>
        <p:xfrm>
          <a:off x="152400" y="1287302"/>
          <a:ext cx="3000000" cy="3000000"/>
        </p:xfrm>
        <a:graphic>
          <a:graphicData uri="http://schemas.openxmlformats.org/drawingml/2006/table">
            <a:tbl>
              <a:tblPr bandRow="1" firstRow="1">
                <a:noFill/>
                <a:tableStyleId>{D6B17028-8F46-47EA-B395-105A4A2347D1}</a:tableStyleId>
              </a:tblPr>
              <a:tblGrid>
                <a:gridCol w="1343850"/>
                <a:gridCol w="1667875"/>
                <a:gridCol w="1124625"/>
                <a:gridCol w="1191350"/>
                <a:gridCol w="6193725"/>
              </a:tblGrid>
              <a:tr h="402025">
                <a:tc gridSpan="5">
                  <a:txBody>
                    <a:bodyPr/>
                    <a:lstStyle/>
                    <a:p>
                      <a:pPr indent="0" lvl="0" marL="0" marR="0" rtl="0" algn="l">
                        <a:spcBef>
                          <a:spcPts val="0"/>
                        </a:spcBef>
                        <a:spcAft>
                          <a:spcPts val="0"/>
                        </a:spcAft>
                        <a:buNone/>
                      </a:pPr>
                      <a:r>
                        <a:rPr lang="en-US" sz="1600" u="none" cap="none" strike="noStrike">
                          <a:latin typeface="Times New Roman"/>
                          <a:ea typeface="Times New Roman"/>
                          <a:cs typeface="Times New Roman"/>
                          <a:sym typeface="Times New Roman"/>
                        </a:rPr>
                        <a:t>Table 2. </a:t>
                      </a:r>
                      <a:r>
                        <a:rPr b="0" lang="en-US" sz="1600" u="none" cap="none" strike="noStrike">
                          <a:latin typeface="Times New Roman"/>
                          <a:ea typeface="Times New Roman"/>
                          <a:cs typeface="Times New Roman"/>
                          <a:sym typeface="Times New Roman"/>
                        </a:rPr>
                        <a:t>Summary of Post-Processed Datasets and Their Temporal and Spatial Characteristics.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r>
              <a:tr h="573650">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Variable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Temporal Coverage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Temporal Resolution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Spatial Resolution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Post-Process Datasets</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Burned Area</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01/2001-12/2024</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solidFill>
                            <a:srgbClr val="FF0000"/>
                          </a:solidFill>
                          <a:latin typeface="Times New Roman"/>
                          <a:ea typeface="Times New Roman"/>
                          <a:cs typeface="Times New Roman"/>
                          <a:sym typeface="Times New Roman"/>
                        </a:rPr>
                        <a:t>Monthly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solidFill>
                            <a:srgbClr val="FF0000"/>
                          </a:solidFill>
                          <a:latin typeface="Times New Roman"/>
                          <a:ea typeface="Times New Roman"/>
                          <a:cs typeface="Times New Roman"/>
                          <a:sym typeface="Times New Roman"/>
                        </a:rPr>
                        <a:t>0.1°</a:t>
                      </a:r>
                      <a:endParaRPr sz="1600" u="none" cap="none" strike="noStrike">
                        <a:solidFill>
                          <a:srgbClr val="FF0000"/>
                        </a:solidFill>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MCD64A1_BurnedFraction_01x01_2001_2024_monthly.nc</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EVI</a:t>
                      </a:r>
                      <a:endParaRPr baseline="30000" sz="16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tcPr>
                </a:tc>
                <a:tc rowSpan="3">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01/2001-12/2024</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3">
                  <a:txBody>
                    <a:bodyPr/>
                    <a:lstStyle/>
                    <a:p>
                      <a:pPr indent="0" lvl="0" marL="0" marR="0" rtl="0" algn="ctr">
                        <a:lnSpc>
                          <a:spcPct val="100000"/>
                        </a:lnSpc>
                        <a:spcBef>
                          <a:spcPts val="0"/>
                        </a:spcBef>
                        <a:spcAft>
                          <a:spcPts val="0"/>
                        </a:spcAft>
                        <a:buClr>
                          <a:srgbClr val="FF0000"/>
                        </a:buClr>
                        <a:buSzPts val="1600"/>
                        <a:buFont typeface="Times New Roman"/>
                        <a:buNone/>
                      </a:pPr>
                      <a:r>
                        <a:rPr lang="en-US" sz="1600" u="none" cap="none" strike="noStrike">
                          <a:solidFill>
                            <a:srgbClr val="FF0000"/>
                          </a:solidFill>
                          <a:latin typeface="Times New Roman"/>
                          <a:ea typeface="Times New Roman"/>
                          <a:cs typeface="Times New Roman"/>
                          <a:sym typeface="Times New Roman"/>
                        </a:rPr>
                        <a:t>Monthly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rowSpan="3">
                  <a:txBody>
                    <a:bodyPr/>
                    <a:lstStyle/>
                    <a:p>
                      <a:pPr indent="0" lvl="0" marL="0" marR="0" rtl="0" algn="ctr">
                        <a:spcBef>
                          <a:spcPts val="0"/>
                        </a:spcBef>
                        <a:spcAft>
                          <a:spcPts val="0"/>
                        </a:spcAft>
                        <a:buNone/>
                      </a:pPr>
                      <a:r>
                        <a:rPr lang="en-US" sz="1600" u="none" cap="none" strike="noStrike">
                          <a:solidFill>
                            <a:srgbClr val="FF0000"/>
                          </a:solidFill>
                          <a:latin typeface="Times New Roman"/>
                          <a:ea typeface="Times New Roman"/>
                          <a:cs typeface="Times New Roman"/>
                          <a:sym typeface="Times New Roman"/>
                        </a:rPr>
                        <a:t>0.1°</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MOD13A2_EVI_01x01_2001_2024_monthly.nc</a:t>
                      </a:r>
                      <a:endParaRPr/>
                    </a:p>
                  </a:txBody>
                  <a:tcPr marT="45725" marB="45725" marR="91450" marL="91450" anchor="ctr">
                    <a:lnT cap="flat" cmpd="sng" w="12700">
                      <a:solidFill>
                        <a:schemeClr val="dk1"/>
                      </a:solidFill>
                      <a:prstDash val="solid"/>
                      <a:round/>
                      <a:headEnd len="sm" w="sm" type="none"/>
                      <a:tailEnd len="sm" w="sm" type="none"/>
                    </a:lnT>
                  </a:tcP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NDVI</a:t>
                      </a:r>
                      <a:endParaRPr baseline="30000" sz="1600" u="none" cap="none" strike="noStrike">
                        <a:latin typeface="Times New Roman"/>
                        <a:ea typeface="Times New Roman"/>
                        <a:cs typeface="Times New Roman"/>
                        <a:sym typeface="Times New Roman"/>
                      </a:endParaRPr>
                    </a:p>
                  </a:txBody>
                  <a:tcPr marT="45725" marB="45725" marR="91450" marL="91450" anchor="ctr"/>
                </a:tc>
                <a:tc vMerge="1"/>
                <a:tc vMerge="1"/>
                <a:tc vMerge="1"/>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MOD13A2_NDVI_01x01_2001_2024_monthly.nc</a:t>
                      </a:r>
                      <a:endParaRPr/>
                    </a:p>
                  </a:txBody>
                  <a:tcPr marT="45725" marB="45725" marR="91450" marL="91450" anchor="ct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LAI</a:t>
                      </a:r>
                      <a:endParaRPr baseline="30000" sz="1600" u="none" cap="none" strike="noStrike">
                        <a:latin typeface="Times New Roman"/>
                        <a:ea typeface="Times New Roman"/>
                        <a:cs typeface="Times New Roman"/>
                        <a:sym typeface="Times New Roman"/>
                      </a:endParaRPr>
                    </a:p>
                  </a:txBody>
                  <a:tcPr marT="45725" marB="45725" marR="91450" marL="91450" anchor="ctr">
                    <a:lnB cap="flat" cmpd="sng" w="12700">
                      <a:solidFill>
                        <a:schemeClr val="dk1"/>
                      </a:solidFill>
                      <a:prstDash val="solid"/>
                      <a:round/>
                      <a:headEnd len="sm" w="sm" type="none"/>
                      <a:tailEnd len="sm" w="sm" type="none"/>
                    </a:lnB>
                  </a:tcPr>
                </a:tc>
                <a:tc vMerge="1"/>
                <a:tc vMerge="1"/>
                <a:tc vMerge="1"/>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MOD15A2H_LAI_01x01_2001_2024_monthly.nc</a:t>
                      </a:r>
                      <a:endParaRPr/>
                    </a:p>
                  </a:txBody>
                  <a:tcPr marT="45725" marB="45725" marR="91450" marL="91450" anchor="ctr">
                    <a:lnB cap="flat" cmpd="sng" w="12700">
                      <a:solidFill>
                        <a:schemeClr val="dk1"/>
                      </a:solidFill>
                      <a:prstDash val="solid"/>
                      <a:round/>
                      <a:headEnd len="sm" w="sm" type="none"/>
                      <a:tailEnd len="sm" w="sm" type="none"/>
                    </a:lnB>
                  </a:tcP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Precipitation</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9">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01/1950-12/2024</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9">
                  <a:txBody>
                    <a:bodyPr/>
                    <a:lstStyle/>
                    <a:p>
                      <a:pPr indent="0" lvl="0" marL="0" marR="0" rtl="0" algn="ctr">
                        <a:spcBef>
                          <a:spcPts val="0"/>
                        </a:spcBef>
                        <a:spcAft>
                          <a:spcPts val="0"/>
                        </a:spcAft>
                        <a:buNone/>
                      </a:pPr>
                      <a:r>
                        <a:rPr lang="en-US" sz="1600" u="none" cap="none" strike="noStrike">
                          <a:solidFill>
                            <a:srgbClr val="FF0000"/>
                          </a:solidFill>
                          <a:latin typeface="Times New Roman"/>
                          <a:ea typeface="Times New Roman"/>
                          <a:cs typeface="Times New Roman"/>
                          <a:sym typeface="Times New Roman"/>
                        </a:rPr>
                        <a:t>Monthly</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9">
                  <a:txBody>
                    <a:bodyPr/>
                    <a:lstStyle/>
                    <a:p>
                      <a:pPr indent="0" lvl="0" marL="0" marR="0" rtl="0" algn="ctr">
                        <a:spcBef>
                          <a:spcPts val="0"/>
                        </a:spcBef>
                        <a:spcAft>
                          <a:spcPts val="0"/>
                        </a:spcAft>
                        <a:buNone/>
                      </a:pPr>
                      <a:r>
                        <a:rPr lang="en-US" sz="1600" u="none" cap="none" strike="noStrike">
                          <a:solidFill>
                            <a:srgbClr val="FF0000"/>
                          </a:solidFill>
                          <a:latin typeface="Times New Roman"/>
                          <a:ea typeface="Times New Roman"/>
                          <a:cs typeface="Times New Roman"/>
                          <a:sym typeface="Times New Roman"/>
                        </a:rPr>
                        <a:t>0.1°</a:t>
                      </a:r>
                      <a:endParaRPr sz="1600" u="none" cap="none" strike="noStrike">
                        <a:solidFill>
                          <a:srgbClr val="FF0000"/>
                        </a:solidFill>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rowSpan="2">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ERA5_Land_precip_m_1950_2024_monthly_01x01.nc</a:t>
                      </a:r>
                      <a:endParaRPr/>
                    </a:p>
                  </a:txBody>
                  <a:tcPr marT="45725" marB="45725" marR="91450" marL="91450" anchor="ct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03200">
                <a:tc rowSpan="3">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Surface Temperature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332125">
                <a:tc vMerge="1"/>
                <a:tc vMerge="1"/>
                <a:tc vMerge="1"/>
                <a:tc vMerge="1"/>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ERA5_Land_skt_k_1950_2024_monthly_01x01.nc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171100">
                <a:tc vMerge="1"/>
                <a:tc vMerge="1"/>
                <a:tc vMerge="1"/>
                <a:tc vMerge="1"/>
                <a:tc rowSpan="2">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ERA5_Land_swvl1_percentage_1950_2024_monthly_01x01.nc</a:t>
                      </a:r>
                      <a:endParaRPr/>
                    </a:p>
                  </a:txBody>
                  <a:tcPr marT="45725" marB="45725" marR="91450" marL="91450" anchor="ct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165050">
                <a:tc rowSpan="2">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Soil Moisture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167075">
                <a:tc vMerge="1"/>
                <a:tc vMerge="1"/>
                <a:tc vMerge="1"/>
                <a:tc vMerge="1"/>
                <a:tc rowSpan="2">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ERA5_Land_WindSpeed_mpers_1950_2024_Monthly_01x01.nc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198900">
                <a:tc rowSpan="2">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Wind Speed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r h="133225">
                <a:tc vMerge="1"/>
                <a:tc vMerge="1"/>
                <a:tc vMerge="1"/>
                <a:tc vMerge="1"/>
                <a:tc rowSpan="2">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ERA5_Land_VPD_kpa_1950_2024_monthly_01x01.nc</a:t>
                      </a:r>
                      <a:endParaRPr/>
                    </a:p>
                  </a:txBody>
                  <a:tcPr marT="45725" marB="45725" marR="91450" marL="91450" anchor="ct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332125">
                <a:tc>
                  <a:txBody>
                    <a:bodyPr/>
                    <a:lstStyle/>
                    <a:p>
                      <a:pPr indent="0" lvl="0" marL="0" marR="0" rtl="0" algn="ctr">
                        <a:spcBef>
                          <a:spcPts val="0"/>
                        </a:spcBef>
                        <a:spcAft>
                          <a:spcPts val="0"/>
                        </a:spcAft>
                        <a:buNone/>
                      </a:pPr>
                      <a:r>
                        <a:rPr lang="en-US" sz="1600" u="none" cap="none" strike="noStrike">
                          <a:latin typeface="Times New Roman"/>
                          <a:ea typeface="Times New Roman"/>
                          <a:cs typeface="Times New Roman"/>
                          <a:sym typeface="Times New Roman"/>
                        </a:rPr>
                        <a:t>VPD</a:t>
                      </a:r>
                      <a:endParaRPr baseline="30000" sz="16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vMerge="1"/>
                <a:tc vMerge="1"/>
                <a:tc vMerge="1"/>
                <a:tc vMerge="1"/>
              </a:tr>
            </a:tbl>
          </a:graphicData>
        </a:graphic>
      </p:graphicFrame>
      <p:sp>
        <p:nvSpPr>
          <p:cNvPr id="138" name="Google Shape;138;p3"/>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Post-Processing Results</a:t>
            </a:r>
            <a:endParaRPr b="1" sz="1800">
              <a:solidFill>
                <a:srgbClr val="741E1E"/>
              </a:solidFill>
              <a:latin typeface="Times New Roman"/>
              <a:ea typeface="Times New Roman"/>
              <a:cs typeface="Times New Roman"/>
              <a:sym typeface="Times New Roman"/>
            </a:endParaRPr>
          </a:p>
        </p:txBody>
      </p:sp>
      <p:cxnSp>
        <p:nvCxnSpPr>
          <p:cNvPr id="139" name="Google Shape;139;p3"/>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sp>
        <p:nvSpPr>
          <p:cNvPr id="140" name="Google Shape;14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47" name="Google Shape;147;p4"/>
          <p:cNvSpPr/>
          <p:nvPr/>
        </p:nvSpPr>
        <p:spPr>
          <a:xfrm>
            <a:off x="-1" y="-1"/>
            <a:ext cx="2295526" cy="548640"/>
          </a:xfrm>
          <a:prstGeom prst="homePlate">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48" name="Google Shape;148;p4"/>
          <p:cNvSpPr/>
          <p:nvPr/>
        </p:nvSpPr>
        <p:spPr>
          <a:xfrm>
            <a:off x="1976436" y="0"/>
            <a:ext cx="3381376" cy="548639"/>
          </a:xfrm>
          <a:prstGeom prst="chevron">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49" name="Google Shape;149;p4"/>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50" name="Google Shape;150;p4"/>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151" name="Google Shape;151;p4"/>
          <p:cNvSpPr txBox="1"/>
          <p:nvPr/>
        </p:nvSpPr>
        <p:spPr>
          <a:xfrm>
            <a:off x="94422" y="556271"/>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Climatology of Burned Area (Northern Australia)</a:t>
            </a:r>
            <a:endParaRPr b="1" sz="1800">
              <a:solidFill>
                <a:srgbClr val="741E1E"/>
              </a:solidFill>
              <a:latin typeface="Times New Roman"/>
              <a:ea typeface="Times New Roman"/>
              <a:cs typeface="Times New Roman"/>
              <a:sym typeface="Times New Roman"/>
            </a:endParaRPr>
          </a:p>
        </p:txBody>
      </p:sp>
      <p:cxnSp>
        <p:nvCxnSpPr>
          <p:cNvPr id="152" name="Google Shape;152;p4"/>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pic>
        <p:nvPicPr>
          <p:cNvPr id="153" name="Google Shape;153;p4"/>
          <p:cNvPicPr preferRelativeResize="0"/>
          <p:nvPr/>
        </p:nvPicPr>
        <p:blipFill rotWithShape="1">
          <a:blip r:embed="rId3">
            <a:alphaModFix/>
          </a:blip>
          <a:srcRect b="0" l="0" r="0" t="0"/>
          <a:stretch/>
        </p:blipFill>
        <p:spPr>
          <a:xfrm>
            <a:off x="5468199" y="1159263"/>
            <a:ext cx="6504209" cy="3031736"/>
          </a:xfrm>
          <a:prstGeom prst="rect">
            <a:avLst/>
          </a:prstGeom>
          <a:noFill/>
          <a:ln>
            <a:noFill/>
          </a:ln>
        </p:spPr>
      </p:pic>
      <p:pic>
        <p:nvPicPr>
          <p:cNvPr id="154" name="Google Shape;154;p4"/>
          <p:cNvPicPr preferRelativeResize="0"/>
          <p:nvPr/>
        </p:nvPicPr>
        <p:blipFill rotWithShape="1">
          <a:blip r:embed="rId4">
            <a:alphaModFix/>
          </a:blip>
          <a:srcRect b="0" l="0" r="0" t="0"/>
          <a:stretch/>
        </p:blipFill>
        <p:spPr>
          <a:xfrm>
            <a:off x="55966" y="950391"/>
            <a:ext cx="5301846" cy="3985894"/>
          </a:xfrm>
          <a:prstGeom prst="rect">
            <a:avLst/>
          </a:prstGeom>
          <a:noFill/>
          <a:ln>
            <a:noFill/>
          </a:ln>
        </p:spPr>
      </p:pic>
      <p:sp>
        <p:nvSpPr>
          <p:cNvPr id="155" name="Google Shape;15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6" name="Google Shape;156;p4"/>
          <p:cNvSpPr txBox="1"/>
          <p:nvPr/>
        </p:nvSpPr>
        <p:spPr>
          <a:xfrm>
            <a:off x="132344" y="4891946"/>
            <a:ext cx="11755861"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left panel shows the spatial distribution of mean annual burned area across Australia during 2001–2024, highlighting extensive fire activity in the northern savanna region (outlined by the magenta box is the region we focus on). Warm colors indicate areas with a higher fraction of land burned annually, whereas cool colors denote regions with limited fire occurrence. The right panel presents the monthly climatology of burned area (black line) and its interannual variability (shaded region representing ±1 standard deviation) for Northern Australia, compared with observations from 2023 (red line). Fire activity typically peaks during the late dry season (September–November), with 2023 showing a markedly higher-than-average burned area in October.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63" name="Google Shape;163;p5"/>
          <p:cNvSpPr/>
          <p:nvPr/>
        </p:nvSpPr>
        <p:spPr>
          <a:xfrm>
            <a:off x="-1" y="-1"/>
            <a:ext cx="2295526" cy="548640"/>
          </a:xfrm>
          <a:prstGeom prst="homePlate">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64" name="Google Shape;164;p5"/>
          <p:cNvSpPr/>
          <p:nvPr/>
        </p:nvSpPr>
        <p:spPr>
          <a:xfrm>
            <a:off x="1976436" y="0"/>
            <a:ext cx="3381376" cy="548639"/>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65" name="Google Shape;165;p5"/>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66" name="Google Shape;166;p5"/>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167" name="Google Shape;167;p5"/>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Post-Processing Results</a:t>
            </a:r>
            <a:endParaRPr b="1" sz="1800">
              <a:solidFill>
                <a:srgbClr val="741E1E"/>
              </a:solidFill>
              <a:latin typeface="Times New Roman"/>
              <a:ea typeface="Times New Roman"/>
              <a:cs typeface="Times New Roman"/>
              <a:sym typeface="Times New Roman"/>
            </a:endParaRPr>
          </a:p>
        </p:txBody>
      </p:sp>
      <p:cxnSp>
        <p:nvCxnSpPr>
          <p:cNvPr id="168" name="Google Shape;168;p5"/>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pic>
        <p:nvPicPr>
          <p:cNvPr id="169" name="Google Shape;169;p5"/>
          <p:cNvPicPr preferRelativeResize="0"/>
          <p:nvPr/>
        </p:nvPicPr>
        <p:blipFill rotWithShape="1">
          <a:blip r:embed="rId3">
            <a:alphaModFix/>
          </a:blip>
          <a:srcRect b="0" l="0" r="0" t="0"/>
          <a:stretch/>
        </p:blipFill>
        <p:spPr>
          <a:xfrm>
            <a:off x="2518238" y="2213880"/>
            <a:ext cx="8548689" cy="4495008"/>
          </a:xfrm>
          <a:prstGeom prst="rect">
            <a:avLst/>
          </a:prstGeom>
          <a:noFill/>
          <a:ln>
            <a:noFill/>
          </a:ln>
        </p:spPr>
      </p:pic>
      <p:sp>
        <p:nvSpPr>
          <p:cNvPr id="170" name="Google Shape;170;p5"/>
          <p:cNvSpPr txBox="1"/>
          <p:nvPr/>
        </p:nvSpPr>
        <p:spPr>
          <a:xfrm>
            <a:off x="100010" y="1013549"/>
            <a:ext cx="118848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top-left panel shows the original burned-area distribution, which is highly right-skewed (skewness = 2.67) and dominated by small-fire events. The top-right panel presents the log(1 + x)–transformed data, where skewness is substantially reduced (to 0.42), resulting in a more symmetrical distribution. The bottom panels illustrate two additional transformations applied to the same dataset for comparison, each aiming to mitigate skewness and improve data normality.</a:t>
            </a:r>
            <a:endParaRPr/>
          </a:p>
        </p:txBody>
      </p:sp>
      <p:sp>
        <p:nvSpPr>
          <p:cNvPr id="171" name="Google Shape;171;p5"/>
          <p:cNvSpPr txBox="1"/>
          <p:nvPr>
            <p:ph idx="12" type="sldNum"/>
          </p:nvPr>
        </p:nvSpPr>
        <p:spPr>
          <a:xfrm>
            <a:off x="10226625" y="64169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2" name="Google Shape;172;p5"/>
          <p:cNvSpPr txBox="1"/>
          <p:nvPr/>
        </p:nvSpPr>
        <p:spPr>
          <a:xfrm>
            <a:off x="152400" y="2350175"/>
            <a:ext cx="22188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Times New Roman"/>
                <a:ea typeface="Times New Roman"/>
                <a:cs typeface="Times New Roman"/>
                <a:sym typeface="Times New Roman"/>
              </a:rPr>
              <a:t>Extreme data imbalance between instances of fire and no-fire is observed. </a:t>
            </a:r>
            <a:r>
              <a:rPr lang="en-US" sz="1600">
                <a:solidFill>
                  <a:schemeClr val="dk1"/>
                </a:solidFill>
                <a:latin typeface="Times New Roman"/>
                <a:ea typeface="Times New Roman"/>
                <a:cs typeface="Times New Roman"/>
                <a:sym typeface="Times New Roman"/>
              </a:rPr>
              <a:t>If the data with a large proportion of no-fire instances are directly used for model training, it is highly likely to mislead model outputs to converge into zero values.</a:t>
            </a:r>
            <a:endParaRPr sz="1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79" name="Google Shape;179;p6"/>
          <p:cNvSpPr/>
          <p:nvPr/>
        </p:nvSpPr>
        <p:spPr>
          <a:xfrm>
            <a:off x="-1" y="-1"/>
            <a:ext cx="2295526" cy="548640"/>
          </a:xfrm>
          <a:prstGeom prst="homePlate">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80" name="Google Shape;180;p6"/>
          <p:cNvSpPr/>
          <p:nvPr/>
        </p:nvSpPr>
        <p:spPr>
          <a:xfrm>
            <a:off x="1976436" y="0"/>
            <a:ext cx="3381376" cy="548639"/>
          </a:xfrm>
          <a:prstGeom prst="chevron">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81" name="Google Shape;181;p6"/>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82" name="Google Shape;182;p6"/>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183" name="Google Shape;183;p6"/>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LSTM Model Setting</a:t>
            </a:r>
            <a:endParaRPr b="1" sz="1800">
              <a:solidFill>
                <a:srgbClr val="741E1E"/>
              </a:solidFill>
              <a:latin typeface="Times New Roman"/>
              <a:ea typeface="Times New Roman"/>
              <a:cs typeface="Times New Roman"/>
              <a:sym typeface="Times New Roman"/>
            </a:endParaRPr>
          </a:p>
        </p:txBody>
      </p:sp>
      <p:cxnSp>
        <p:nvCxnSpPr>
          <p:cNvPr id="184" name="Google Shape;184;p6"/>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graphicFrame>
        <p:nvGraphicFramePr>
          <p:cNvPr id="185" name="Google Shape;185;p6"/>
          <p:cNvGraphicFramePr/>
          <p:nvPr/>
        </p:nvGraphicFramePr>
        <p:xfrm>
          <a:off x="1847848" y="1363502"/>
          <a:ext cx="3000000" cy="3000000"/>
        </p:xfrm>
        <a:graphic>
          <a:graphicData uri="http://schemas.openxmlformats.org/drawingml/2006/table">
            <a:tbl>
              <a:tblPr bandRow="1" firstRow="1">
                <a:noFill/>
                <a:tableStyleId>{70C8FCEA-B8C7-49A6-9F48-0E0ACADF6EA5}</a:tableStyleId>
              </a:tblPr>
              <a:tblGrid>
                <a:gridCol w="2476500"/>
                <a:gridCol w="6357950"/>
              </a:tblGrid>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Model Name</a:t>
                      </a:r>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A5A5A5"/>
                    </a:solidFill>
                  </a:tcPr>
                </a:tc>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DualAttentionFire</a:t>
                      </a:r>
                      <a:endParaRPr b="0" sz="18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A5A5A5"/>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Architecture</a:t>
                      </a:r>
                      <a:endParaRPr/>
                    </a:p>
                  </a:txBody>
                  <a:tcPr marT="45725" marB="45725" marR="91450" marL="91450" anchor="ctr">
                    <a:lnT cap="flat" cmpd="sng" w="12700">
                      <a:solidFill>
                        <a:schemeClr val="dk1"/>
                      </a:solidFill>
                      <a:prstDash val="solid"/>
                      <a:round/>
                      <a:headEnd len="sm" w="sm" type="none"/>
                      <a:tailEnd len="sm" w="sm" type="none"/>
                    </a:lnT>
                    <a:solidFill>
                      <a:srgbClr val="F2F2F2"/>
                    </a:solidFill>
                  </a:tcP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LSTM with Dual Attention (Temporal + Feature)</a:t>
                      </a:r>
                      <a:endParaRPr b="0" sz="1800" u="none" cap="none" strike="noStrike">
                        <a:latin typeface="Times New Roman"/>
                        <a:ea typeface="Times New Roman"/>
                        <a:cs typeface="Times New Roman"/>
                        <a:sym typeface="Times New Roman"/>
                      </a:endParaRPr>
                    </a:p>
                  </a:txBody>
                  <a:tcPr marT="45725" marB="45725" marR="91450" marL="91450" anchor="ctr">
                    <a:lnT cap="flat" cmpd="sng" w="12700">
                      <a:solidFill>
                        <a:schemeClr val="dk1"/>
                      </a:solidFill>
                      <a:prstDash val="solid"/>
                      <a:round/>
                      <a:headEnd len="sm" w="sm" type="none"/>
                      <a:tailEnd len="sm" w="sm" type="none"/>
                    </a:lnT>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Sequence Length</a:t>
                      </a:r>
                      <a:endParaRPr/>
                    </a:p>
                  </a:txBody>
                  <a:tcPr marT="45725" marB="45725" marR="91450" marL="91450" anchor="ctr">
                    <a:solidFill>
                      <a:srgbClr val="F2F2F2"/>
                    </a:solidFill>
                  </a:tcP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12 months (input time steps)</a:t>
                      </a:r>
                      <a:endParaRPr b="0" sz="1800" u="none" cap="none" strike="noStrike">
                        <a:latin typeface="Times New Roman"/>
                        <a:ea typeface="Times New Roman"/>
                        <a:cs typeface="Times New Roman"/>
                        <a:sym typeface="Times New Roman"/>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Hidden Dimension</a:t>
                      </a:r>
                      <a:endParaRPr/>
                    </a:p>
                  </a:txBody>
                  <a:tcPr marT="45725" marB="45725" marR="91450" marL="91450" anchor="ctr">
                    <a:solidFill>
                      <a:srgbClr val="F2F2F2"/>
                    </a:solidFill>
                  </a:tcPr>
                </a:tc>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64</a:t>
                      </a:r>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Number of Layers</a:t>
                      </a:r>
                      <a:endParaRPr/>
                    </a:p>
                  </a:txBody>
                  <a:tcPr marT="45725" marB="45725" marR="91450" marL="91450" anchor="ctr">
                    <a:solidFill>
                      <a:srgbClr val="F2F2F2"/>
                    </a:solidFill>
                  </a:tcPr>
                </a:tc>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1</a:t>
                      </a:r>
                      <a:endParaRPr/>
                    </a:p>
                  </a:txBody>
                  <a:tcPr marT="45725" marB="45725" marR="91450" marL="91450" anchor="ctr">
                    <a:solidFill>
                      <a:srgbClr val="F2F2F2"/>
                    </a:solidFill>
                  </a:tcPr>
                </a:tc>
              </a:tr>
              <a:tr h="41830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Attention Mechanisms</a:t>
                      </a:r>
                      <a:endParaRPr/>
                    </a:p>
                  </a:txBody>
                  <a:tcPr marT="45725" marB="45725" marR="91450" marL="91450" anchor="ctr">
                    <a:solidFill>
                      <a:srgbClr val="F2F2F2"/>
                    </a:solidFill>
                  </a:tcPr>
                </a:tc>
                <a:tc>
                  <a:txBody>
                    <a:bodyPr/>
                    <a:lstStyle/>
                    <a:p>
                      <a:pPr indent="0" lvl="0" marL="0" marR="0" rtl="0" algn="ctr">
                        <a:spcBef>
                          <a:spcPts val="0"/>
                        </a:spcBef>
                        <a:spcAft>
                          <a:spcPts val="0"/>
                        </a:spcAft>
                        <a:buClr>
                          <a:schemeClr val="dk1"/>
                        </a:buClr>
                        <a:buSzPts val="1800"/>
                        <a:buFont typeface="Arial"/>
                        <a:buNone/>
                      </a:pPr>
                      <a:r>
                        <a:rPr b="0" lang="en-US" sz="1800" u="none" cap="none" strike="noStrike">
                          <a:latin typeface="Times New Roman"/>
                          <a:ea typeface="Times New Roman"/>
                          <a:cs typeface="Times New Roman"/>
                          <a:sym typeface="Times New Roman"/>
                        </a:rPr>
                        <a:t>Temporal attention (per feature)</a:t>
                      </a:r>
                      <a:endParaRPr/>
                    </a:p>
                    <a:p>
                      <a:pPr indent="0" lvl="0" marL="0" marR="0" rtl="0" algn="ctr">
                        <a:spcBef>
                          <a:spcPts val="0"/>
                        </a:spcBef>
                        <a:spcAft>
                          <a:spcPts val="0"/>
                        </a:spcAft>
                        <a:buClr>
                          <a:schemeClr val="dk1"/>
                        </a:buClr>
                        <a:buSzPts val="1800"/>
                        <a:buFont typeface="Arial"/>
                        <a:buNone/>
                      </a:pPr>
                      <a:r>
                        <a:rPr b="0" lang="en-US" sz="1800" u="none" cap="none" strike="noStrike">
                          <a:latin typeface="Times New Roman"/>
                          <a:ea typeface="Times New Roman"/>
                          <a:cs typeface="Times New Roman"/>
                          <a:sym typeface="Times New Roman"/>
                        </a:rPr>
                        <a:t>Feature attention (across features)</a:t>
                      </a:r>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Activation Function</a:t>
                      </a:r>
                      <a:endParaRPr/>
                    </a:p>
                  </a:txBody>
                  <a:tcPr marT="45725" marB="45725" marR="91450" marL="91450" anchor="ctr">
                    <a:solidFill>
                      <a:srgbClr val="F2F2F2"/>
                    </a:solidFill>
                  </a:tcPr>
                </a:tc>
                <a:tc>
                  <a:txBody>
                    <a:bodyPr/>
                    <a:lstStyle/>
                    <a:p>
                      <a:pPr indent="0" lvl="0" marL="0" marR="0" rtl="0" algn="ctr">
                        <a:spcBef>
                          <a:spcPts val="0"/>
                        </a:spcBef>
                        <a:spcAft>
                          <a:spcPts val="0"/>
                        </a:spcAft>
                        <a:buClr>
                          <a:schemeClr val="dk1"/>
                        </a:buClr>
                        <a:buSzPts val="1800"/>
                        <a:buFont typeface="Arial"/>
                        <a:buNone/>
                      </a:pPr>
                      <a:r>
                        <a:rPr i="1" lang="en-US" sz="1800" u="none" cap="none" strike="noStrike">
                          <a:latin typeface="Times New Roman"/>
                          <a:ea typeface="Times New Roman"/>
                          <a:cs typeface="Times New Roman"/>
                          <a:sym typeface="Times New Roman"/>
                        </a:rPr>
                        <a:t>tanh</a:t>
                      </a:r>
                      <a:r>
                        <a:rPr lang="en-US" sz="1800" u="none" cap="none" strike="noStrike">
                          <a:latin typeface="Times New Roman"/>
                          <a:ea typeface="Times New Roman"/>
                          <a:cs typeface="Times New Roman"/>
                          <a:sym typeface="Times New Roman"/>
                        </a:rPr>
                        <a:t> (for attention scoring)</a:t>
                      </a:r>
                      <a:endParaRPr b="0" sz="1800" u="none" cap="none" strike="noStrike">
                        <a:latin typeface="Times New Roman"/>
                        <a:ea typeface="Times New Roman"/>
                        <a:cs typeface="Times New Roman"/>
                        <a:sym typeface="Times New Roman"/>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Target Transformation</a:t>
                      </a:r>
                      <a:endParaRPr/>
                    </a:p>
                  </a:txBody>
                  <a:tcPr marT="45725" marB="45725" marR="91450" marL="91450" anchor="ctr">
                    <a:solidFill>
                      <a:srgbClr val="F2F2F2"/>
                    </a:solidFill>
                  </a:tcPr>
                </a:tc>
                <a:tc>
                  <a:txBody>
                    <a:bodyPr/>
                    <a:lstStyle/>
                    <a:p>
                      <a:pPr indent="0" lvl="0" marL="0" marR="0" rtl="0" algn="ctr">
                        <a:spcBef>
                          <a:spcPts val="0"/>
                        </a:spcBef>
                        <a:spcAft>
                          <a:spcPts val="0"/>
                        </a:spcAft>
                        <a:buClr>
                          <a:schemeClr val="dk1"/>
                        </a:buClr>
                        <a:buSzPts val="1800"/>
                        <a:buFont typeface="Arial"/>
                        <a:buNone/>
                      </a:pPr>
                      <a:r>
                        <a:rPr lang="en-US" sz="1800" u="none" cap="none" strike="noStrike">
                          <a:latin typeface="Times New Roman"/>
                          <a:ea typeface="Times New Roman"/>
                          <a:cs typeface="Times New Roman"/>
                          <a:sym typeface="Times New Roman"/>
                        </a:rPr>
                        <a:t>log₁₊(y) = log(1 + Burned Area)</a:t>
                      </a:r>
                      <a:endParaRPr b="0" sz="1800" u="none" cap="none" strike="noStrike">
                        <a:latin typeface="Times New Roman"/>
                        <a:ea typeface="Times New Roman"/>
                        <a:cs typeface="Times New Roman"/>
                        <a:sym typeface="Times New Roman"/>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Loss Function</a:t>
                      </a:r>
                      <a:endParaRPr/>
                    </a:p>
                  </a:txBody>
                  <a:tcPr marT="45725" marB="45725" marR="91450" marL="91450" anchor="ctr">
                    <a:solidFill>
                      <a:srgbClr val="F2F2F2"/>
                    </a:solidFill>
                  </a:tcPr>
                </a:tc>
                <a:tc>
                  <a:txBody>
                    <a:bodyPr/>
                    <a:lstStyle/>
                    <a:p>
                      <a:pPr indent="0" lvl="0" marL="0" marR="0" rtl="0" algn="ctr">
                        <a:spcBef>
                          <a:spcPts val="0"/>
                        </a:spcBef>
                        <a:spcAft>
                          <a:spcPts val="0"/>
                        </a:spcAft>
                        <a:buClr>
                          <a:schemeClr val="dk1"/>
                        </a:buClr>
                        <a:buSzPts val="1800"/>
                        <a:buFont typeface="Arial"/>
                        <a:buNone/>
                      </a:pPr>
                      <a:r>
                        <a:rPr lang="en-US" sz="1800" u="none" cap="none" strike="noStrike">
                          <a:latin typeface="Times New Roman"/>
                          <a:ea typeface="Times New Roman"/>
                          <a:cs typeface="Times New Roman"/>
                          <a:sym typeface="Times New Roman"/>
                        </a:rPr>
                        <a:t>Mean Squared Error (MSE) on log-transformed target</a:t>
                      </a:r>
                      <a:endParaRPr b="0" sz="1800" u="none" cap="none" strike="noStrike">
                        <a:latin typeface="Times New Roman"/>
                        <a:ea typeface="Times New Roman"/>
                        <a:cs typeface="Times New Roman"/>
                        <a:sym typeface="Times New Roman"/>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Regularization</a:t>
                      </a:r>
                      <a:endParaRPr/>
                    </a:p>
                  </a:txBody>
                  <a:tcPr marT="45725" marB="45725" marR="91450" marL="91450" anchor="ctr">
                    <a:solidFill>
                      <a:srgbClr val="F2F2F2"/>
                    </a:solidFill>
                  </a:tcPr>
                </a:tc>
                <a:tc>
                  <a:txBody>
                    <a:bodyPr/>
                    <a:lstStyle/>
                    <a:p>
                      <a:pPr indent="0" lvl="0" marL="0" marR="0" rtl="0" algn="ctr">
                        <a:spcBef>
                          <a:spcPts val="0"/>
                        </a:spcBef>
                        <a:spcAft>
                          <a:spcPts val="0"/>
                        </a:spcAft>
                        <a:buClr>
                          <a:schemeClr val="dk1"/>
                        </a:buClr>
                        <a:buSzPts val="1800"/>
                        <a:buFont typeface="Arial"/>
                        <a:buNone/>
                      </a:pPr>
                      <a:r>
                        <a:rPr b="0" lang="en-US" sz="1800" u="none" cap="none" strike="noStrike">
                          <a:latin typeface="Times New Roman"/>
                          <a:ea typeface="Times New Roman"/>
                          <a:cs typeface="Times New Roman"/>
                          <a:sym typeface="Times New Roman"/>
                        </a:rPr>
                        <a:t>Weight decay only</a:t>
                      </a:r>
                      <a:endParaRPr/>
                    </a:p>
                  </a:txBody>
                  <a:tcPr marT="45725" marB="45725" marR="91450" marL="91450" anchor="ctr">
                    <a:solidFill>
                      <a:srgbClr val="F2F2F2"/>
                    </a:solidFill>
                  </a:tcPr>
                </a:tc>
              </a:tr>
              <a:tr h="370850">
                <a:tc>
                  <a:txBody>
                    <a:bodyPr/>
                    <a:lstStyle/>
                    <a:p>
                      <a:pPr indent="0" lvl="0" marL="0" marR="0" rtl="0" algn="ctr">
                        <a:spcBef>
                          <a:spcPts val="0"/>
                        </a:spcBef>
                        <a:spcAft>
                          <a:spcPts val="0"/>
                        </a:spcAft>
                        <a:buNone/>
                      </a:pPr>
                      <a:r>
                        <a:rPr b="0" lang="en-US" sz="1800" u="none" cap="none" strike="noStrike">
                          <a:latin typeface="Times New Roman"/>
                          <a:ea typeface="Times New Roman"/>
                          <a:cs typeface="Times New Roman"/>
                          <a:sym typeface="Times New Roman"/>
                        </a:rPr>
                        <a:t>Normalization</a:t>
                      </a:r>
                      <a:endParaRPr/>
                    </a:p>
                  </a:txBody>
                  <a:tcPr marT="45725" marB="45725" marR="91450" marL="91450" anchor="ctr">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chemeClr val="dk1"/>
                        </a:buClr>
                        <a:buSzPts val="1800"/>
                        <a:buFont typeface="Arial"/>
                        <a:buNone/>
                      </a:pPr>
                      <a:r>
                        <a:rPr b="0" lang="en-US" sz="1800" u="none" cap="none" strike="noStrike">
                          <a:latin typeface="Times New Roman"/>
                          <a:ea typeface="Times New Roman"/>
                          <a:cs typeface="Times New Roman"/>
                          <a:sym typeface="Times New Roman"/>
                        </a:rPr>
                        <a:t>StandardScaler (z-score on features)</a:t>
                      </a:r>
                      <a:endParaRPr/>
                    </a:p>
                  </a:txBody>
                  <a:tcPr marT="45725" marB="45725" marR="91450" marL="91450" anchor="ctr">
                    <a:lnB cap="flat" cmpd="sng" w="12700">
                      <a:solidFill>
                        <a:schemeClr val="dk1"/>
                      </a:solidFill>
                      <a:prstDash val="solid"/>
                      <a:round/>
                      <a:headEnd len="sm" w="sm" type="none"/>
                      <a:tailEnd len="sm" w="sm" type="none"/>
                    </a:lnB>
                    <a:solidFill>
                      <a:srgbClr val="F2F2F2"/>
                    </a:solidFill>
                  </a:tcPr>
                </a:tc>
              </a:tr>
            </a:tbl>
          </a:graphicData>
        </a:graphic>
      </p:graphicFrame>
      <p:sp>
        <p:nvSpPr>
          <p:cNvPr id="186" name="Google Shape;18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7"/>
          <p:cNvSpPr/>
          <p:nvPr/>
        </p:nvSpPr>
        <p:spPr>
          <a:xfrm>
            <a:off x="9172575" y="0"/>
            <a:ext cx="3019425" cy="548640"/>
          </a:xfrm>
          <a:prstGeom prst="chevron">
            <a:avLst>
              <a:gd fmla="val 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193" name="Google Shape;193;p7"/>
          <p:cNvSpPr/>
          <p:nvPr/>
        </p:nvSpPr>
        <p:spPr>
          <a:xfrm>
            <a:off x="-1" y="-1"/>
            <a:ext cx="2295526" cy="548640"/>
          </a:xfrm>
          <a:prstGeom prst="homePlate">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194" name="Google Shape;194;p7"/>
          <p:cNvSpPr/>
          <p:nvPr/>
        </p:nvSpPr>
        <p:spPr>
          <a:xfrm>
            <a:off x="1976436" y="0"/>
            <a:ext cx="3381376" cy="548639"/>
          </a:xfrm>
          <a:prstGeom prst="chevron">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195" name="Google Shape;195;p7"/>
          <p:cNvSpPr/>
          <p:nvPr/>
        </p:nvSpPr>
        <p:spPr>
          <a:xfrm>
            <a:off x="5057775" y="-7632"/>
            <a:ext cx="2795587"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196" name="Google Shape;196;p7"/>
          <p:cNvSpPr/>
          <p:nvPr/>
        </p:nvSpPr>
        <p:spPr>
          <a:xfrm>
            <a:off x="7529515" y="-3816"/>
            <a:ext cx="1919288" cy="548640"/>
          </a:xfrm>
          <a:prstGeom prst="chevron">
            <a:avLst>
              <a:gd fmla="val 50000" name="adj"/>
            </a:avLst>
          </a:prstGeom>
          <a:gradFill>
            <a:gsLst>
              <a:gs pos="0">
                <a:srgbClr val="B99696"/>
              </a:gs>
              <a:gs pos="50000">
                <a:srgbClr val="D2C0C0"/>
              </a:gs>
              <a:gs pos="100000">
                <a:srgbClr val="E8E0E0"/>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197" name="Google Shape;197;p7"/>
          <p:cNvSpPr txBox="1"/>
          <p:nvPr/>
        </p:nvSpPr>
        <p:spPr>
          <a:xfrm>
            <a:off x="100010" y="548639"/>
            <a:ext cx="99155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Model Results</a:t>
            </a:r>
            <a:endParaRPr b="1" sz="1800">
              <a:solidFill>
                <a:srgbClr val="741E1E"/>
              </a:solidFill>
              <a:latin typeface="Times New Roman"/>
              <a:ea typeface="Times New Roman"/>
              <a:cs typeface="Times New Roman"/>
              <a:sym typeface="Times New Roman"/>
            </a:endParaRPr>
          </a:p>
        </p:txBody>
      </p:sp>
      <p:cxnSp>
        <p:nvCxnSpPr>
          <p:cNvPr id="198" name="Google Shape;198;p7"/>
          <p:cNvCxnSpPr/>
          <p:nvPr/>
        </p:nvCxnSpPr>
        <p:spPr>
          <a:xfrm>
            <a:off x="152400" y="917971"/>
            <a:ext cx="11715750" cy="0"/>
          </a:xfrm>
          <a:prstGeom prst="straightConnector1">
            <a:avLst/>
          </a:prstGeom>
          <a:noFill/>
          <a:ln cap="flat" cmpd="sng" w="19050">
            <a:solidFill>
              <a:srgbClr val="741E1E"/>
            </a:solidFill>
            <a:prstDash val="solid"/>
            <a:miter lim="800000"/>
            <a:headEnd len="sm" w="sm" type="none"/>
            <a:tailEnd len="sm" w="sm" type="none"/>
          </a:ln>
        </p:spPr>
      </p:cxnSp>
      <p:pic>
        <p:nvPicPr>
          <p:cNvPr id="199" name="Google Shape;199;p7"/>
          <p:cNvPicPr preferRelativeResize="0"/>
          <p:nvPr/>
        </p:nvPicPr>
        <p:blipFill rotWithShape="1">
          <a:blip r:embed="rId3">
            <a:alphaModFix/>
          </a:blip>
          <a:srcRect b="0" l="0" r="0" t="0"/>
          <a:stretch/>
        </p:blipFill>
        <p:spPr>
          <a:xfrm>
            <a:off x="713094" y="1019053"/>
            <a:ext cx="3111229" cy="1360644"/>
          </a:xfrm>
          <a:prstGeom prst="rect">
            <a:avLst/>
          </a:prstGeom>
          <a:noFill/>
          <a:ln>
            <a:noFill/>
          </a:ln>
        </p:spPr>
      </p:pic>
      <p:pic>
        <p:nvPicPr>
          <p:cNvPr id="200" name="Google Shape;200;p7"/>
          <p:cNvPicPr preferRelativeResize="0"/>
          <p:nvPr/>
        </p:nvPicPr>
        <p:blipFill rotWithShape="1">
          <a:blip r:embed="rId4">
            <a:alphaModFix/>
          </a:blip>
          <a:srcRect b="0" l="0" r="0" t="0"/>
          <a:stretch/>
        </p:blipFill>
        <p:spPr>
          <a:xfrm>
            <a:off x="383363" y="2467997"/>
            <a:ext cx="3824324" cy="2280640"/>
          </a:xfrm>
          <a:prstGeom prst="rect">
            <a:avLst/>
          </a:prstGeom>
          <a:noFill/>
          <a:ln>
            <a:noFill/>
          </a:ln>
        </p:spPr>
      </p:pic>
      <p:pic>
        <p:nvPicPr>
          <p:cNvPr id="201" name="Google Shape;201;p7"/>
          <p:cNvPicPr preferRelativeResize="0"/>
          <p:nvPr/>
        </p:nvPicPr>
        <p:blipFill rotWithShape="1">
          <a:blip r:embed="rId5">
            <a:alphaModFix/>
          </a:blip>
          <a:srcRect b="0" l="0" r="0" t="0"/>
          <a:stretch/>
        </p:blipFill>
        <p:spPr>
          <a:xfrm>
            <a:off x="7421661" y="993206"/>
            <a:ext cx="3111230" cy="1335800"/>
          </a:xfrm>
          <a:prstGeom prst="rect">
            <a:avLst/>
          </a:prstGeom>
          <a:noFill/>
          <a:ln>
            <a:noFill/>
          </a:ln>
        </p:spPr>
      </p:pic>
      <p:pic>
        <p:nvPicPr>
          <p:cNvPr id="202" name="Google Shape;202;p7"/>
          <p:cNvPicPr preferRelativeResize="0"/>
          <p:nvPr/>
        </p:nvPicPr>
        <p:blipFill rotWithShape="1">
          <a:blip r:embed="rId6">
            <a:alphaModFix/>
          </a:blip>
          <a:srcRect b="0" l="0" r="0" t="0"/>
          <a:stretch/>
        </p:blipFill>
        <p:spPr>
          <a:xfrm>
            <a:off x="6900827" y="2467997"/>
            <a:ext cx="3824324" cy="2338326"/>
          </a:xfrm>
          <a:prstGeom prst="rect">
            <a:avLst/>
          </a:prstGeom>
          <a:noFill/>
          <a:ln>
            <a:noFill/>
          </a:ln>
        </p:spPr>
      </p:pic>
      <p:sp>
        <p:nvSpPr>
          <p:cNvPr id="203" name="Google Shape;20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7"/>
          <p:cNvSpPr txBox="1"/>
          <p:nvPr/>
        </p:nvSpPr>
        <p:spPr>
          <a:xfrm>
            <a:off x="484494" y="4887628"/>
            <a:ext cx="11193156" cy="1754326"/>
          </a:xfrm>
          <a:prstGeom prst="rect">
            <a:avLst/>
          </a:prstGeom>
          <a:blipFill rotWithShape="1">
            <a:blip r:embed="rId7">
              <a:alphaModFix/>
            </a:blip>
            <a:stretch>
              <a:fillRect b="-4513" l="-434" r="0" t="-208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3985d2df1_0_24"/>
          <p:cNvSpPr/>
          <p:nvPr/>
        </p:nvSpPr>
        <p:spPr>
          <a:xfrm>
            <a:off x="9172575" y="0"/>
            <a:ext cx="3019500" cy="548700"/>
          </a:xfrm>
          <a:prstGeom prst="chevron">
            <a:avLst>
              <a:gd fmla="val 0" name="adj"/>
            </a:avLst>
          </a:prstGeom>
          <a:gradFill>
            <a:gsLst>
              <a:gs pos="0">
                <a:srgbClr val="B99696"/>
              </a:gs>
              <a:gs pos="50000">
                <a:srgbClr val="D2C0C0"/>
              </a:gs>
              <a:gs pos="100000">
                <a:srgbClr val="E8E0E0"/>
              </a:gs>
            </a:gsLst>
            <a:lin ang="810001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  Contribution Breakdown      </a:t>
            </a:r>
            <a:endParaRPr/>
          </a:p>
        </p:txBody>
      </p:sp>
      <p:sp>
        <p:nvSpPr>
          <p:cNvPr id="211" name="Google Shape;211;g3a3985d2df1_0_24"/>
          <p:cNvSpPr/>
          <p:nvPr/>
        </p:nvSpPr>
        <p:spPr>
          <a:xfrm>
            <a:off x="-1" y="-1"/>
            <a:ext cx="2295600" cy="548700"/>
          </a:xfrm>
          <a:prstGeom prst="homePlate">
            <a:avLst>
              <a:gd fmla="val 50000" name="adj"/>
            </a:avLst>
          </a:prstGeom>
          <a:gradFill>
            <a:gsLst>
              <a:gs pos="0">
                <a:srgbClr val="B99696"/>
              </a:gs>
              <a:gs pos="50000">
                <a:srgbClr val="D2C0C0"/>
              </a:gs>
              <a:gs pos="100000">
                <a:srgbClr val="E8E0E0"/>
              </a:gs>
            </a:gsLst>
            <a:lin ang="810001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Data Pipeline</a:t>
            </a:r>
            <a:endParaRPr/>
          </a:p>
        </p:txBody>
      </p:sp>
      <p:sp>
        <p:nvSpPr>
          <p:cNvPr id="212" name="Google Shape;212;g3a3985d2df1_0_24"/>
          <p:cNvSpPr/>
          <p:nvPr/>
        </p:nvSpPr>
        <p:spPr>
          <a:xfrm>
            <a:off x="1976436" y="0"/>
            <a:ext cx="3381300" cy="548700"/>
          </a:xfrm>
          <a:prstGeom prst="chevron">
            <a:avLst>
              <a:gd fmla="val 50000" name="adj"/>
            </a:avLst>
          </a:prstGeom>
          <a:solidFill>
            <a:srgbClr val="741E1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Baseline Model Running</a:t>
            </a:r>
            <a:endParaRPr/>
          </a:p>
        </p:txBody>
      </p:sp>
      <p:sp>
        <p:nvSpPr>
          <p:cNvPr id="213" name="Google Shape;213;g3a3985d2df1_0_24"/>
          <p:cNvSpPr/>
          <p:nvPr/>
        </p:nvSpPr>
        <p:spPr>
          <a:xfrm>
            <a:off x="5057775" y="-7632"/>
            <a:ext cx="2795700" cy="548700"/>
          </a:xfrm>
          <a:prstGeom prst="chevron">
            <a:avLst>
              <a:gd fmla="val 50000" name="adj"/>
            </a:avLst>
          </a:prstGeom>
          <a:gradFill>
            <a:gsLst>
              <a:gs pos="0">
                <a:srgbClr val="B99696"/>
              </a:gs>
              <a:gs pos="50000">
                <a:srgbClr val="D2C0C0"/>
              </a:gs>
              <a:gs pos="100000">
                <a:srgbClr val="E8E0E0"/>
              </a:gs>
            </a:gsLst>
            <a:lin ang="810001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Preliminary Results</a:t>
            </a:r>
            <a:endParaRPr/>
          </a:p>
        </p:txBody>
      </p:sp>
      <p:sp>
        <p:nvSpPr>
          <p:cNvPr id="214" name="Google Shape;214;g3a3985d2df1_0_24"/>
          <p:cNvSpPr/>
          <p:nvPr/>
        </p:nvSpPr>
        <p:spPr>
          <a:xfrm>
            <a:off x="7529515" y="-3816"/>
            <a:ext cx="1919400" cy="548700"/>
          </a:xfrm>
          <a:prstGeom prst="chevron">
            <a:avLst>
              <a:gd fmla="val 50000" name="adj"/>
            </a:avLst>
          </a:prstGeom>
          <a:gradFill>
            <a:gsLst>
              <a:gs pos="0">
                <a:srgbClr val="B99696"/>
              </a:gs>
              <a:gs pos="50000">
                <a:srgbClr val="D2C0C0"/>
              </a:gs>
              <a:gs pos="100000">
                <a:srgbClr val="E8E0E0"/>
              </a:gs>
            </a:gsLst>
            <a:lin ang="810001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Times New Roman"/>
                <a:ea typeface="Times New Roman"/>
                <a:cs typeface="Times New Roman"/>
                <a:sym typeface="Times New Roman"/>
              </a:rPr>
              <a:t>Next Steps</a:t>
            </a:r>
            <a:endParaRPr/>
          </a:p>
        </p:txBody>
      </p:sp>
      <p:sp>
        <p:nvSpPr>
          <p:cNvPr id="215" name="Google Shape;215;g3a3985d2df1_0_24"/>
          <p:cNvSpPr txBox="1"/>
          <p:nvPr/>
        </p:nvSpPr>
        <p:spPr>
          <a:xfrm>
            <a:off x="100010" y="548639"/>
            <a:ext cx="9915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41E1E"/>
                </a:solidFill>
                <a:latin typeface="Times New Roman"/>
                <a:ea typeface="Times New Roman"/>
                <a:cs typeface="Times New Roman"/>
                <a:sym typeface="Times New Roman"/>
              </a:rPr>
              <a:t>DNN</a:t>
            </a:r>
            <a:r>
              <a:rPr b="1" lang="en-US" sz="1800">
                <a:solidFill>
                  <a:srgbClr val="741E1E"/>
                </a:solidFill>
                <a:latin typeface="Times New Roman"/>
                <a:ea typeface="Times New Roman"/>
                <a:cs typeface="Times New Roman"/>
                <a:sym typeface="Times New Roman"/>
              </a:rPr>
              <a:t> Model Setting</a:t>
            </a:r>
            <a:endParaRPr b="1" sz="1800">
              <a:solidFill>
                <a:srgbClr val="741E1E"/>
              </a:solidFill>
              <a:latin typeface="Times New Roman"/>
              <a:ea typeface="Times New Roman"/>
              <a:cs typeface="Times New Roman"/>
              <a:sym typeface="Times New Roman"/>
            </a:endParaRPr>
          </a:p>
        </p:txBody>
      </p:sp>
      <p:cxnSp>
        <p:nvCxnSpPr>
          <p:cNvPr id="216" name="Google Shape;216;g3a3985d2df1_0_24"/>
          <p:cNvCxnSpPr/>
          <p:nvPr/>
        </p:nvCxnSpPr>
        <p:spPr>
          <a:xfrm>
            <a:off x="152400" y="917971"/>
            <a:ext cx="11715900" cy="0"/>
          </a:xfrm>
          <a:prstGeom prst="straightConnector1">
            <a:avLst/>
          </a:prstGeom>
          <a:noFill/>
          <a:ln cap="flat" cmpd="sng" w="19050">
            <a:solidFill>
              <a:srgbClr val="741E1E"/>
            </a:solidFill>
            <a:prstDash val="solid"/>
            <a:miter lim="800000"/>
            <a:headEnd len="sm" w="sm" type="none"/>
            <a:tailEnd len="sm" w="sm" type="none"/>
          </a:ln>
        </p:spPr>
      </p:cxnSp>
      <p:sp>
        <p:nvSpPr>
          <p:cNvPr id="217" name="Google Shape;217;g3a3985d2df1_0_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8" name="Google Shape;218;g3a3985d2df1_0_24" title="Screenshot 2025-11-14 at 8.04.47 PM.png"/>
          <p:cNvPicPr preferRelativeResize="0"/>
          <p:nvPr/>
        </p:nvPicPr>
        <p:blipFill>
          <a:blip r:embed="rId3">
            <a:alphaModFix/>
          </a:blip>
          <a:stretch>
            <a:fillRect/>
          </a:stretch>
        </p:blipFill>
        <p:spPr>
          <a:xfrm>
            <a:off x="152400" y="1961098"/>
            <a:ext cx="9296526" cy="3973852"/>
          </a:xfrm>
          <a:prstGeom prst="rect">
            <a:avLst/>
          </a:prstGeom>
          <a:noFill/>
          <a:ln>
            <a:noFill/>
          </a:ln>
        </p:spPr>
      </p:pic>
      <p:sp>
        <p:nvSpPr>
          <p:cNvPr id="219" name="Google Shape;219;g3a3985d2df1_0_24"/>
          <p:cNvSpPr txBox="1"/>
          <p:nvPr/>
        </p:nvSpPr>
        <p:spPr>
          <a:xfrm>
            <a:off x="9572925" y="2294525"/>
            <a:ext cx="22188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Times New Roman"/>
                <a:ea typeface="Times New Roman"/>
                <a:cs typeface="Times New Roman"/>
                <a:sym typeface="Times New Roman"/>
              </a:rPr>
              <a:t>DRAFT: Implementation of a PyTorch-based DNN Wildfire model to replicate the functionality of the original TensorFlow wildfire surrogate model</a:t>
            </a:r>
            <a:endParaRPr sz="16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2025-10-25T17:30:56Z</dcterms:created>
  <dc:creator>Xinyi Yang</dc:creator>
</cp:coreProperties>
</file>